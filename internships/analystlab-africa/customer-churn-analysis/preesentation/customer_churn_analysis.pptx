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DCAE-0DB3-0055-A0A3-A1A6E7FD0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666" y="126077"/>
            <a:ext cx="9001462" cy="1655762"/>
          </a:xfrm>
        </p:spPr>
        <p:txBody>
          <a:bodyPr>
            <a:normAutofit fontScale="90000"/>
          </a:bodyPr>
          <a:lstStyle/>
          <a:p>
            <a:br>
              <a:rPr lang="en-US" sz="2000" dirty="0">
                <a:effectLst/>
              </a:rPr>
            </a:br>
            <a:r>
              <a:rPr lang="en-US" sz="4400" dirty="0">
                <a:effectLst/>
              </a:rPr>
              <a:t>Customer Churn Analysis </a:t>
            </a:r>
            <a:r>
              <a:rPr lang="en-US" sz="4400" dirty="0"/>
              <a:t>Using Python</a:t>
            </a:r>
            <a:br>
              <a:rPr lang="en-US" sz="2000" dirty="0">
                <a:effectLst/>
              </a:rPr>
            </a:br>
            <a:br>
              <a:rPr lang="en-US" sz="2000" dirty="0">
                <a:effectLst/>
              </a:rPr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280CB-F198-400F-1BF6-9F20B0F0C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2317678"/>
            <a:ext cx="9001462" cy="4195880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Prepared by: Hudu Yusuf Ibrahim</a:t>
            </a:r>
          </a:p>
          <a:p>
            <a:endParaRPr lang="en-US" dirty="0">
              <a:effectLst/>
            </a:endParaRPr>
          </a:p>
          <a:p>
            <a:br>
              <a:rPr lang="en-US" dirty="0">
                <a:effectLst/>
              </a:rPr>
            </a:br>
            <a:r>
              <a:rPr lang="en-US" dirty="0">
                <a:effectLst/>
              </a:rPr>
              <a:t>Dataset: Telco Customer Churn Dataset</a:t>
            </a:r>
          </a:p>
          <a:p>
            <a:endParaRPr lang="en-US" dirty="0">
              <a:effectLst/>
            </a:endParaRPr>
          </a:p>
          <a:p>
            <a:br>
              <a:rPr lang="en-US" dirty="0">
                <a:effectLst/>
              </a:rPr>
            </a:br>
            <a:r>
              <a:rPr lang="en-US" dirty="0">
                <a:effectLst/>
              </a:rPr>
              <a:t>Tools: Python, Pandas, NumPy, Matplotlib, Seaborn, </a:t>
            </a:r>
            <a:r>
              <a:rPr lang="en-US" dirty="0" err="1">
                <a:effectLst/>
              </a:rPr>
              <a:t>Jupyter</a:t>
            </a:r>
            <a:r>
              <a:rPr lang="en-US" dirty="0">
                <a:effectLst/>
              </a:rPr>
              <a:t> Notebook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3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3450-B382-DF99-F1BD-4D9EB9AF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Business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8921C-7F7A-A505-BD76-BBF4B606D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en-US" dirty="0"/>
              <a:t>• </a:t>
            </a:r>
            <a:r>
              <a:rPr lang="en-US" sz="2800" dirty="0"/>
              <a:t>Customer retention is critical for subscription businesses.</a:t>
            </a:r>
          </a:p>
          <a:p>
            <a:pPr marL="0" indent="0">
              <a:buNone/>
              <a:defRPr sz="2200"/>
            </a:pPr>
            <a:endParaRPr lang="en-US" sz="2800" dirty="0"/>
          </a:p>
          <a:p>
            <a:pPr marL="0" indent="0">
              <a:buNone/>
              <a:defRPr sz="2200"/>
            </a:pPr>
            <a:r>
              <a:rPr lang="en-US" sz="2800" dirty="0"/>
              <a:t>• High churn reduces recurring revenue.</a:t>
            </a:r>
          </a:p>
          <a:p>
            <a:pPr marL="0" indent="0">
              <a:buNone/>
              <a:defRPr sz="2200"/>
            </a:pPr>
            <a:endParaRPr lang="en-US" sz="2800" dirty="0"/>
          </a:p>
          <a:p>
            <a:pPr marL="0" indent="0">
              <a:buNone/>
              <a:defRPr sz="2200"/>
            </a:pPr>
            <a:r>
              <a:rPr lang="en-US" sz="2800" dirty="0"/>
              <a:t>• </a:t>
            </a:r>
            <a:r>
              <a:rPr lang="en-US" sz="2800" dirty="0" err="1"/>
              <a:t>Analyse</a:t>
            </a:r>
            <a:r>
              <a:rPr lang="en-US" sz="2800" dirty="0"/>
              <a:t> churn drivers and recommend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77628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EDCE-2613-8562-E9A0-0B81B758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Business 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C79D8-13AC-D7A8-B957-D68436C11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44121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  <a:defRPr sz="2200"/>
            </a:pPr>
            <a:r>
              <a:rPr lang="en-US" sz="9600" dirty="0"/>
              <a:t>Business Problem:</a:t>
            </a:r>
            <a:endParaRPr lang="en-US" sz="7400" dirty="0"/>
          </a:p>
          <a:p>
            <a:pPr>
              <a:defRPr sz="2200"/>
            </a:pPr>
            <a:r>
              <a:rPr lang="en-US" sz="8800" dirty="0"/>
              <a:t>Understand</a:t>
            </a:r>
            <a:r>
              <a:rPr lang="en-US" sz="8800" dirty="0"/>
              <a:t> why customers leave.</a:t>
            </a:r>
          </a:p>
          <a:p>
            <a:pPr>
              <a:defRPr sz="2200"/>
            </a:pPr>
            <a:endParaRPr lang="en-US" sz="7400" dirty="0"/>
          </a:p>
          <a:p>
            <a:pPr marL="0" indent="0">
              <a:buNone/>
              <a:defRPr sz="2200"/>
            </a:pPr>
            <a:r>
              <a:rPr lang="en-US" sz="9600" dirty="0"/>
              <a:t>Objectives:</a:t>
            </a:r>
            <a:endParaRPr lang="en-US" sz="7400" dirty="0"/>
          </a:p>
          <a:p>
            <a:pPr marL="0" indent="0">
              <a:buNone/>
              <a:defRPr sz="2200"/>
            </a:pPr>
            <a:r>
              <a:rPr lang="en-US" sz="8800" dirty="0"/>
              <a:t>• Identify high-risk customers</a:t>
            </a:r>
          </a:p>
          <a:p>
            <a:pPr marL="0" indent="0">
              <a:buNone/>
              <a:defRPr sz="2200"/>
            </a:pPr>
            <a:r>
              <a:rPr lang="en-US" sz="8800" dirty="0"/>
              <a:t>• </a:t>
            </a:r>
            <a:r>
              <a:rPr lang="en-US" sz="8800" dirty="0" err="1"/>
              <a:t>Analyse</a:t>
            </a:r>
            <a:r>
              <a:rPr lang="en-US" sz="8800" dirty="0"/>
              <a:t> contract, tenure, services and payment methods</a:t>
            </a:r>
          </a:p>
          <a:p>
            <a:pPr marL="0" indent="0">
              <a:buNone/>
              <a:defRPr sz="2200"/>
            </a:pPr>
            <a:r>
              <a:rPr lang="en-US" sz="8800" dirty="0"/>
              <a:t>• Recommend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9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7207-42F9-0C76-504B-334E1FA3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032" y="131929"/>
            <a:ext cx="11027997" cy="741528"/>
          </a:xfrm>
        </p:spPr>
        <p:txBody>
          <a:bodyPr>
            <a:normAutofit/>
          </a:bodyPr>
          <a:lstStyle/>
          <a:p>
            <a:r>
              <a:rPr lang="en-US" sz="4000" dirty="0"/>
              <a:t>Dataset Overview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96F8EA-39A9-1CE8-8AF5-8C0AC08DA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66" y="1298976"/>
            <a:ext cx="6559979" cy="5397357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2D755-167C-720D-E14A-4A1060A96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5660" y="1914097"/>
            <a:ext cx="3316406" cy="2344003"/>
          </a:xfrm>
        </p:spPr>
        <p:txBody>
          <a:bodyPr>
            <a:normAutofit/>
          </a:bodyPr>
          <a:lstStyle/>
          <a:p>
            <a:pPr algn="l">
              <a:defRPr sz="2200"/>
            </a:pPr>
            <a:r>
              <a:rPr lang="en-US" dirty="0"/>
              <a:t>• </a:t>
            </a:r>
            <a:r>
              <a:rPr lang="en-US" sz="2800" dirty="0"/>
              <a:t>7,043 records</a:t>
            </a:r>
          </a:p>
          <a:p>
            <a:pPr algn="l">
              <a:defRPr sz="2200"/>
            </a:pPr>
            <a:r>
              <a:rPr lang="en-US" sz="2800" dirty="0"/>
              <a:t>• 21 variables</a:t>
            </a:r>
          </a:p>
          <a:p>
            <a:pPr algn="l">
              <a:defRPr sz="2200"/>
            </a:pPr>
            <a:r>
              <a:rPr lang="en-US" sz="2800" dirty="0"/>
              <a:t>• Target: Churn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46DA3E-9044-6787-A79B-1F959BAF6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866" y="1445523"/>
            <a:ext cx="6559979" cy="510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5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3692-8A30-5244-6E8D-33681A53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18" y="159225"/>
            <a:ext cx="10353761" cy="907576"/>
          </a:xfrm>
        </p:spPr>
        <p:txBody>
          <a:bodyPr>
            <a:normAutofit/>
          </a:bodyPr>
          <a:lstStyle/>
          <a:p>
            <a:r>
              <a:rPr lang="en-US" sz="4000" dirty="0"/>
              <a:t>Contract &amp; Tenure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1F34904A-3328-8F7A-6754-3996708124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3788" y="1207624"/>
            <a:ext cx="5795962" cy="4676056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B981A24-E03A-A068-7D22-05CFC1BF50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1048" y="1207624"/>
            <a:ext cx="5797550" cy="46760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A9897DD-CBB7-ACBB-5A4C-281142B0A8CB}"/>
              </a:ext>
            </a:extLst>
          </p:cNvPr>
          <p:cNvSpPr txBox="1"/>
          <p:nvPr/>
        </p:nvSpPr>
        <p:spPr>
          <a:xfrm>
            <a:off x="2276" y="5970000"/>
            <a:ext cx="6093724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800" dirty="0"/>
              <a:t>Month-to-month churn: 42.7%, vs 11.3% (1-yr) and 2.8% (2-yr)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0C652-E5D6-FB1F-2382-FFE17E028C3A}"/>
              </a:ext>
            </a:extLst>
          </p:cNvPr>
          <p:cNvSpPr txBox="1"/>
          <p:nvPr/>
        </p:nvSpPr>
        <p:spPr>
          <a:xfrm>
            <a:off x="6560925" y="5970000"/>
            <a:ext cx="556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30.9% of customers have &lt;12 months tenure — the highest-churn group</a:t>
            </a:r>
          </a:p>
        </p:txBody>
      </p:sp>
    </p:spTree>
    <p:extLst>
      <p:ext uri="{BB962C8B-B14F-4D97-AF65-F5344CB8AC3E}">
        <p14:creationId xmlns:p14="http://schemas.microsoft.com/office/powerpoint/2010/main" val="169014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CB27-5E45-EEF3-277C-ABE6ADAC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747" y="186519"/>
            <a:ext cx="10353762" cy="880281"/>
          </a:xfrm>
        </p:spPr>
        <p:txBody>
          <a:bodyPr>
            <a:normAutofit/>
          </a:bodyPr>
          <a:lstStyle/>
          <a:p>
            <a:r>
              <a:rPr lang="en-US" sz="4000" dirty="0"/>
              <a:t>Service &amp; Payment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45B63-8586-DEC9-D9A4-DE2AFE77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773" y="1066800"/>
            <a:ext cx="3776021" cy="472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57D7-8862-470A-1F2F-87111DF7E5E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88114" y="6180548"/>
            <a:ext cx="11499086" cy="500000"/>
          </a:xfrm>
        </p:spPr>
        <p:txBody>
          <a:bodyPr>
            <a:noAutofit/>
          </a:bodyPr>
          <a:lstStyle/>
          <a:p>
            <a:r>
              <a:rPr lang="en-US" sz="1900" dirty="0"/>
              <a:t>Electronic Check, Fiber Optic, and no Online Security all link to higher churn.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DFD1B-02A7-166D-DB11-EA8D7D08D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88378" y="2017700"/>
            <a:ext cx="3298558" cy="1089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BB2B04-CEC3-A5F3-137F-44A3723830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073156" y="1066800"/>
            <a:ext cx="3910854" cy="472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4D3E2D-AC62-F7F1-C5C4-44EDE8C878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9701" y="2404386"/>
            <a:ext cx="3291211" cy="1362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3B3C54-3532-D52D-8C1D-33B0F00C212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117373" y="1066801"/>
            <a:ext cx="3910854" cy="4724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676F05-004A-4518-4A8C-706203976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596" y="1066800"/>
            <a:ext cx="3910854" cy="472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3C5DC0-58FD-4CC8-A4A8-9A5DF4558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13" y="1066799"/>
            <a:ext cx="3900414" cy="472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E6326F-D6C4-B38C-8E82-25FFF9FF9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74" y="1066798"/>
            <a:ext cx="3776020" cy="47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6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BE71-A409-68B5-DD50-B2EEE216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965" y="159225"/>
            <a:ext cx="10353761" cy="769441"/>
          </a:xfrm>
        </p:spPr>
        <p:txBody>
          <a:bodyPr>
            <a:normAutofit/>
          </a:bodyPr>
          <a:lstStyle/>
          <a:p>
            <a:r>
              <a:rPr lang="en-US" sz="4000" dirty="0"/>
              <a:t>Correlation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E12A6-AA3D-9E04-6903-140EC2527431}"/>
              </a:ext>
            </a:extLst>
          </p:cNvPr>
          <p:cNvSpPr txBox="1"/>
          <p:nvPr/>
        </p:nvSpPr>
        <p:spPr>
          <a:xfrm>
            <a:off x="1173707" y="5550000"/>
            <a:ext cx="8980227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800" dirty="0"/>
              <a:t>• Tenure ↔ Total Charges: 0.83 (strong positive)</a:t>
            </a:r>
          </a:p>
          <a:p>
            <a:pPr>
              <a:defRPr sz="1800"/>
            </a:pPr>
            <a:r>
              <a:rPr lang="en-US" sz="1800" dirty="0"/>
              <a:t>• Monthly Charges ↔ Total Charges: 0.65 (moderate)</a:t>
            </a:r>
          </a:p>
          <a:p>
            <a:pPr>
              <a:defRPr sz="1800"/>
            </a:pPr>
            <a:r>
              <a:rPr lang="en-US" sz="1800" dirty="0"/>
              <a:t>• Tenure ↔ Monthly Charges: 0.25 (weak) — longer-tenured customers don’t necessarily pay more per month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71B8F9B-E774-6705-1644-41FD2683F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526" y="928666"/>
            <a:ext cx="8172309" cy="4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1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F691-4310-5ED6-2CE9-0729FECF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263B-CC29-484E-77E8-73301B1F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00" y="2409962"/>
            <a:ext cx="6450000" cy="4200000"/>
          </a:xfrm>
        </p:spPr>
        <p:txBody>
          <a:bodyPr>
            <a:normAutofit fontScale="90000"/>
          </a:bodyPr>
          <a:lstStyle/>
          <a:p>
            <a:pPr marL="0" indent="0">
              <a:buNone/>
              <a:defRPr sz="2200"/>
            </a:pPr>
            <a:r>
              <a:rPr lang="en-US" sz="2200" dirty="0"/>
              <a:t>• Longer contracts improve retention.</a:t>
            </a:r>
          </a:p>
          <a:p>
            <a:pPr marL="0" indent="0">
              <a:buNone/>
              <a:defRPr sz="2200"/>
            </a:pPr>
            <a:endParaRPr lang="en-US" sz="800" dirty="0"/>
          </a:p>
          <a:p>
            <a:pPr marL="0" indent="0">
              <a:buNone/>
              <a:defRPr sz="2200"/>
            </a:pPr>
            <a:r>
              <a:rPr lang="en-US" sz="2200" dirty="0"/>
              <a:t>• Newer customers are at greater churn risk.</a:t>
            </a:r>
          </a:p>
          <a:p>
            <a:pPr marL="0" indent="0">
              <a:buNone/>
              <a:defRPr sz="2200"/>
            </a:pPr>
            <a:endParaRPr lang="en-US" sz="800" dirty="0"/>
          </a:p>
          <a:p>
            <a:pPr marL="0" indent="0">
              <a:buNone/>
              <a:defRPr sz="2200"/>
            </a:pPr>
            <a:r>
              <a:rPr lang="en-US" sz="2200" dirty="0"/>
              <a:t>• Value-added services are associated with lower churn.</a:t>
            </a:r>
          </a:p>
          <a:p>
            <a:pPr marL="0" indent="0">
              <a:buNone/>
              <a:defRPr sz="2200"/>
            </a:pPr>
            <a:endParaRPr lang="en-US" sz="800" dirty="0"/>
          </a:p>
          <a:p>
            <a:pPr marL="0" indent="0">
              <a:buNone/>
              <a:defRPr sz="2200"/>
            </a:pPr>
            <a:r>
              <a:rPr lang="en-US" sz="2200" dirty="0"/>
              <a:t>• Payment </a:t>
            </a:r>
            <a:r>
              <a:rPr lang="en-US" sz="2200" dirty="0" err="1"/>
              <a:t>behaviour</a:t>
            </a:r>
            <a:r>
              <a:rPr lang="en-US" sz="2200" dirty="0"/>
              <a:t> relates to churn — Electronic Check users churn most.</a:t>
            </a:r>
          </a:p>
        </p:txBody>
      </p:sp>
      <p:sp>
        <p:nvSpPr>
          <p:cNvPr id="101" name="Stat Box 1"/>
          <p:cNvSpPr/>
          <p:nvPr/>
        </p:nvSpPr>
        <p:spPr>
          <a:xfrm>
            <a:off x="7450000" y="2380000"/>
            <a:ext cx="4050000" cy="850000"/>
          </a:xfrm>
          <a:prstGeom prst="roundRect">
            <a:avLst>
              <a:gd name="adj" fmla="val 6000"/>
            </a:avLst>
          </a:prstGeom>
          <a:solidFill>
            <a:srgbClr val="2A5B7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DE9C3C"/>
                </a:solidFill>
              </a:rPr>
              <a:t>42.7% → 2.8%</a:t>
            </a:r>
          </a:p>
          <a:p>
            <a:pPr algn="ctr"/>
            <a:r>
              <a:rPr lang="en-US" sz="1300" dirty="0">
                <a:solidFill>
                  <a:srgbClr val="FFFFFF"/>
                </a:solidFill>
              </a:rPr>
              <a:t>churn: month-to-month vs two-year</a:t>
            </a:r>
          </a:p>
        </p:txBody>
      </p:sp>
      <p:sp>
        <p:nvSpPr>
          <p:cNvPr id="102" name="Stat Box 2"/>
          <p:cNvSpPr/>
          <p:nvPr/>
        </p:nvSpPr>
        <p:spPr>
          <a:xfrm>
            <a:off x="7450000" y="3480000"/>
            <a:ext cx="4050000" cy="850000"/>
          </a:xfrm>
          <a:prstGeom prst="roundRect">
            <a:avLst>
              <a:gd name="adj" fmla="val 6000"/>
            </a:avLst>
          </a:prstGeom>
          <a:solidFill>
            <a:srgbClr val="2A5B7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DE9C3C"/>
                </a:solidFill>
              </a:rPr>
              <a:t>30.9%</a:t>
            </a:r>
          </a:p>
          <a:p>
            <a:pPr algn="ctr"/>
            <a:r>
              <a:rPr lang="en-US" sz="1300" dirty="0">
                <a:solidFill>
                  <a:srgbClr val="FFFFFF"/>
                </a:solidFill>
              </a:rPr>
              <a:t>of customers have &lt;12 months tenure</a:t>
            </a:r>
          </a:p>
        </p:txBody>
      </p:sp>
      <p:sp>
        <p:nvSpPr>
          <p:cNvPr id="103" name="Stat Box 3"/>
          <p:cNvSpPr/>
          <p:nvPr/>
        </p:nvSpPr>
        <p:spPr>
          <a:xfrm>
            <a:off x="7450000" y="4580000"/>
            <a:ext cx="4050000" cy="850000"/>
          </a:xfrm>
          <a:prstGeom prst="roundRect">
            <a:avLst>
              <a:gd name="adj" fmla="val 6000"/>
            </a:avLst>
          </a:prstGeom>
          <a:solidFill>
            <a:srgbClr val="2A5B7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DE9C3C"/>
                </a:solidFill>
              </a:rPr>
              <a:t>4 services</a:t>
            </a:r>
          </a:p>
          <a:p>
            <a:pPr algn="ctr"/>
            <a:r>
              <a:rPr lang="en-US" sz="1300" dirty="0">
                <a:solidFill>
                  <a:srgbClr val="FFFFFF"/>
                </a:solidFill>
              </a:rPr>
              <a:t>Security, Support, Backup, Protection — same pattern each time</a:t>
            </a:r>
          </a:p>
        </p:txBody>
      </p:sp>
    </p:spTree>
    <p:extLst>
      <p:ext uri="{BB962C8B-B14F-4D97-AF65-F5344CB8AC3E}">
        <p14:creationId xmlns:p14="http://schemas.microsoft.com/office/powerpoint/2010/main" val="31027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2DB8-3B9A-8453-D9FA-3AC88B6E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391236"/>
            <a:ext cx="10353761" cy="1326321"/>
          </a:xfrm>
        </p:spPr>
        <p:txBody>
          <a:bodyPr>
            <a:normAutofit/>
          </a:bodyPr>
          <a:lstStyle/>
          <a:p>
            <a:r>
              <a:rPr lang="en-US" sz="400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E4368-24DC-A15A-DE81-30678D05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0000" y="2287133"/>
            <a:ext cx="10200000" cy="3695136"/>
          </a:xfrm>
        </p:spPr>
        <p:txBody>
          <a:bodyPr/>
          <a:lstStyle/>
          <a:p>
            <a:pPr marL="0" indent="0">
              <a:buNone/>
              <a:defRPr sz="2200"/>
            </a:pPr>
            <a:r>
              <a:rPr lang="en-US" sz="2800" dirty="0"/>
              <a:t>Promote longer contracts (42.7% → 2.8% churn).</a:t>
            </a:r>
          </a:p>
          <a:p>
            <a:pPr marL="0" indent="0">
              <a:buNone/>
              <a:defRPr sz="2200"/>
            </a:pPr>
            <a:r>
              <a:rPr lang="en-US" sz="2800" dirty="0"/>
              <a:t>Improve onboarding in the first 12 months.</a:t>
            </a:r>
          </a:p>
          <a:p>
            <a:pPr marL="0" indent="0">
              <a:buNone/>
              <a:defRPr sz="2200"/>
            </a:pPr>
            <a:r>
              <a:rPr lang="en-US" sz="2800" dirty="0"/>
              <a:t>Bundle value-added services at signup.</a:t>
            </a:r>
          </a:p>
          <a:p>
            <a:pPr marL="0" indent="0">
              <a:buNone/>
              <a:defRPr sz="2200"/>
            </a:pPr>
            <a:r>
              <a:rPr lang="en-US" sz="2800" dirty="0"/>
              <a:t>Encourage automatic payments over Electronic Check.</a:t>
            </a:r>
          </a:p>
          <a:p>
            <a:pPr marL="0" indent="0">
              <a:buNone/>
              <a:defRPr sz="2200"/>
            </a:pPr>
            <a:r>
              <a:rPr lang="en-US" sz="2800" dirty="0"/>
              <a:t>Review pricing and value on Fiber Optic plans.</a:t>
            </a:r>
          </a:p>
          <a:p>
            <a:endParaRPr lang="en-US" dirty="0"/>
          </a:p>
        </p:txBody>
      </p:sp>
      <p:sp>
        <p:nvSpPr>
          <p:cNvPr id="201" name="Badge 1"/>
          <p:cNvSpPr/>
          <p:nvPr/>
        </p:nvSpPr>
        <p:spPr>
          <a:xfrm>
            <a:off x="850000" y="2300000"/>
            <a:ext cx="500000" cy="500000"/>
          </a:xfrm>
          <a:prstGeom prst="ellipse">
            <a:avLst/>
          </a:prstGeom>
          <a:solidFill>
            <a:srgbClr val="DE9C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B2A38"/>
                </a:solidFill>
              </a:rPr>
              <a:t>1</a:t>
            </a:r>
          </a:p>
        </p:txBody>
      </p:sp>
      <p:sp>
        <p:nvSpPr>
          <p:cNvPr id="202" name="Badge 2"/>
          <p:cNvSpPr/>
          <p:nvPr/>
        </p:nvSpPr>
        <p:spPr>
          <a:xfrm>
            <a:off x="850000" y="2920000"/>
            <a:ext cx="500000" cy="500000"/>
          </a:xfrm>
          <a:prstGeom prst="ellipse">
            <a:avLst/>
          </a:prstGeom>
          <a:solidFill>
            <a:srgbClr val="DE9C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B2A38"/>
                </a:solidFill>
              </a:rPr>
              <a:t>2</a:t>
            </a:r>
          </a:p>
        </p:txBody>
      </p:sp>
      <p:sp>
        <p:nvSpPr>
          <p:cNvPr id="203" name="Badge 3"/>
          <p:cNvSpPr/>
          <p:nvPr/>
        </p:nvSpPr>
        <p:spPr>
          <a:xfrm>
            <a:off x="850000" y="3530000"/>
            <a:ext cx="500000" cy="500000"/>
          </a:xfrm>
          <a:prstGeom prst="ellipse">
            <a:avLst/>
          </a:prstGeom>
          <a:solidFill>
            <a:srgbClr val="DE9C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B2A38"/>
                </a:solidFill>
              </a:rPr>
              <a:t>3</a:t>
            </a:r>
          </a:p>
        </p:txBody>
      </p:sp>
      <p:sp>
        <p:nvSpPr>
          <p:cNvPr id="204" name="Badge 4"/>
          <p:cNvSpPr/>
          <p:nvPr/>
        </p:nvSpPr>
        <p:spPr>
          <a:xfrm>
            <a:off x="850000" y="4150000"/>
            <a:ext cx="500000" cy="500000"/>
          </a:xfrm>
          <a:prstGeom prst="ellipse">
            <a:avLst/>
          </a:prstGeom>
          <a:solidFill>
            <a:srgbClr val="DE9C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B2A38"/>
                </a:solidFill>
              </a:rPr>
              <a:t>4</a:t>
            </a:r>
          </a:p>
        </p:txBody>
      </p:sp>
      <p:sp>
        <p:nvSpPr>
          <p:cNvPr id="205" name="Badge 5"/>
          <p:cNvSpPr/>
          <p:nvPr/>
        </p:nvSpPr>
        <p:spPr>
          <a:xfrm>
            <a:off x="850000" y="4760000"/>
            <a:ext cx="500000" cy="500000"/>
          </a:xfrm>
          <a:prstGeom prst="ellipse">
            <a:avLst/>
          </a:prstGeom>
          <a:solidFill>
            <a:srgbClr val="DE9C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B2A3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4681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C09-56D7-E050-79BF-AE6F9BE3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17" y="459475"/>
            <a:ext cx="10353761" cy="1326321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C22B-D0AF-E24D-CDBE-25E835562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553264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US" sz="2800" dirty="0"/>
              <a:t>• Key churn drivers identified.</a:t>
            </a:r>
          </a:p>
          <a:p>
            <a:pPr marL="0" indent="0">
              <a:buNone/>
              <a:defRPr sz="2200"/>
            </a:pPr>
            <a:r>
              <a:rPr lang="en-US" sz="2800" dirty="0"/>
              <a:t>• Findings support data-driven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617556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132</TotalTime>
  <Words>225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 Customer Churn Analysis Using Python  </vt:lpstr>
      <vt:lpstr>Business Background</vt:lpstr>
      <vt:lpstr>Business Problem &amp; Objectives</vt:lpstr>
      <vt:lpstr>Dataset Overview</vt:lpstr>
      <vt:lpstr>Contract &amp; Tenure</vt:lpstr>
      <vt:lpstr>Service &amp; Payment</vt:lpstr>
      <vt:lpstr>Correlation</vt:lpstr>
      <vt:lpstr>Business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3</cp:revision>
  <dcterms:created xsi:type="dcterms:W3CDTF">2026-08-06T22:29:16Z</dcterms:created>
  <dcterms:modified xsi:type="dcterms:W3CDTF">2026-08-07T21:25:24Z</dcterms:modified>
</cp:coreProperties>
</file>